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0104100" cy="13404850"/>
  <p:notesSz cx="20104100" cy="1340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4" d="100"/>
          <a:sy n="34" d="100"/>
        </p:scale>
        <p:origin x="1068"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6715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671513"/>
          </a:xfrm>
          <a:prstGeom prst="rect">
            <a:avLst/>
          </a:prstGeom>
        </p:spPr>
        <p:txBody>
          <a:bodyPr vert="horz" lIns="91440" tIns="45720" rIns="91440" bIns="45720" rtlCol="0"/>
          <a:lstStyle>
            <a:lvl1pPr algn="r">
              <a:defRPr sz="1200"/>
            </a:lvl1pPr>
          </a:lstStyle>
          <a:p>
            <a:fld id="{6C008BEC-EF8B-496A-8FB0-190BA99F3F45}" type="datetimeFigureOut">
              <a:rPr lang="en-IN" smtClean="0"/>
              <a:t>22-04-2025</a:t>
            </a:fld>
            <a:endParaRPr lang="en-IN"/>
          </a:p>
        </p:txBody>
      </p:sp>
      <p:sp>
        <p:nvSpPr>
          <p:cNvPr id="4" name="Slide Image Placeholder 3"/>
          <p:cNvSpPr>
            <a:spLocks noGrp="1" noRot="1" noChangeAspect="1"/>
          </p:cNvSpPr>
          <p:nvPr>
            <p:ph type="sldImg" idx="2"/>
          </p:nvPr>
        </p:nvSpPr>
        <p:spPr>
          <a:xfrm>
            <a:off x="6661150" y="1676400"/>
            <a:ext cx="6781800" cy="45227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6451600"/>
            <a:ext cx="16084550" cy="52784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2733338"/>
            <a:ext cx="8712200" cy="6715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2733338"/>
            <a:ext cx="8712200" cy="671512"/>
          </a:xfrm>
          <a:prstGeom prst="rect">
            <a:avLst/>
          </a:prstGeom>
        </p:spPr>
        <p:txBody>
          <a:bodyPr vert="horz" lIns="91440" tIns="45720" rIns="91440" bIns="45720" rtlCol="0" anchor="b"/>
          <a:lstStyle>
            <a:lvl1pPr algn="r">
              <a:defRPr sz="1200"/>
            </a:lvl1pPr>
          </a:lstStyle>
          <a:p>
            <a:fld id="{29177835-6083-450F-B7A7-63FABC13DE9E}" type="slidenum">
              <a:rPr lang="en-IN" smtClean="0"/>
              <a:t>‹#›</a:t>
            </a:fld>
            <a:endParaRPr lang="en-IN"/>
          </a:p>
        </p:txBody>
      </p:sp>
    </p:spTree>
    <p:extLst>
      <p:ext uri="{BB962C8B-B14F-4D97-AF65-F5344CB8AC3E}">
        <p14:creationId xmlns:p14="http://schemas.microsoft.com/office/powerpoint/2010/main" val="3168396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4155503"/>
            <a:ext cx="17088486" cy="2815018"/>
          </a:xfrm>
          <a:prstGeom prst="rect">
            <a:avLst/>
          </a:prstGeom>
        </p:spPr>
        <p:txBody>
          <a:bodyPr wrap="square" lIns="0" tIns="0" rIns="0" bIns="0">
            <a:spAutoFit/>
          </a:bodyPr>
          <a:lstStyle>
            <a:lvl1pPr>
              <a:defRPr sz="4000" b="1" i="0">
                <a:solidFill>
                  <a:schemeClr val="tx1"/>
                </a:solidFill>
                <a:latin typeface="Calibri"/>
                <a:cs typeface="Calibri"/>
              </a:defRPr>
            </a:lvl1pPr>
          </a:lstStyle>
          <a:p>
            <a:endParaRPr/>
          </a:p>
        </p:txBody>
      </p:sp>
      <p:sp>
        <p:nvSpPr>
          <p:cNvPr id="3" name="Holder 3"/>
          <p:cNvSpPr>
            <a:spLocks noGrp="1"/>
          </p:cNvSpPr>
          <p:nvPr>
            <p:ph type="subTitle" idx="4"/>
          </p:nvPr>
        </p:nvSpPr>
        <p:spPr>
          <a:xfrm>
            <a:off x="3015615" y="7506716"/>
            <a:ext cx="14072870" cy="33512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libri"/>
                <a:cs typeface="Calibri"/>
              </a:defRPr>
            </a:lvl1pPr>
          </a:lstStyle>
          <a:p>
            <a:endParaRPr/>
          </a:p>
        </p:txBody>
      </p:sp>
      <p:sp>
        <p:nvSpPr>
          <p:cNvPr id="3" name="Holder 3"/>
          <p:cNvSpPr>
            <a:spLocks noGrp="1"/>
          </p:cNvSpPr>
          <p:nvPr>
            <p:ph sz="half" idx="2"/>
          </p:nvPr>
        </p:nvSpPr>
        <p:spPr>
          <a:xfrm>
            <a:off x="1005205" y="3083115"/>
            <a:ext cx="8745284" cy="88472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3083115"/>
            <a:ext cx="8745284" cy="88472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14126" y="124875"/>
            <a:ext cx="19475450" cy="2491740"/>
          </a:xfrm>
          <a:custGeom>
            <a:avLst/>
            <a:gdLst/>
            <a:ahLst/>
            <a:cxnLst/>
            <a:rect l="l" t="t" r="r" b="b"/>
            <a:pathLst>
              <a:path w="19475450" h="2491740">
                <a:moveTo>
                  <a:pt x="19475070" y="0"/>
                </a:moveTo>
                <a:lnTo>
                  <a:pt x="414957" y="0"/>
                </a:lnTo>
                <a:lnTo>
                  <a:pt x="393239" y="775"/>
                </a:lnTo>
                <a:lnTo>
                  <a:pt x="349805" y="5429"/>
                </a:lnTo>
                <a:lnTo>
                  <a:pt x="307145" y="13961"/>
                </a:lnTo>
                <a:lnTo>
                  <a:pt x="266038" y="27922"/>
                </a:lnTo>
                <a:lnTo>
                  <a:pt x="207090" y="55844"/>
                </a:lnTo>
                <a:lnTo>
                  <a:pt x="170636" y="79888"/>
                </a:lnTo>
                <a:lnTo>
                  <a:pt x="137284" y="107035"/>
                </a:lnTo>
                <a:lnTo>
                  <a:pt x="106260" y="137284"/>
                </a:lnTo>
                <a:lnTo>
                  <a:pt x="79113" y="171412"/>
                </a:lnTo>
                <a:lnTo>
                  <a:pt x="55844" y="207866"/>
                </a:lnTo>
                <a:lnTo>
                  <a:pt x="35678" y="246647"/>
                </a:lnTo>
                <a:lnTo>
                  <a:pt x="20166" y="286979"/>
                </a:lnTo>
                <a:lnTo>
                  <a:pt x="8531" y="328863"/>
                </a:lnTo>
                <a:lnTo>
                  <a:pt x="2326" y="372298"/>
                </a:lnTo>
                <a:lnTo>
                  <a:pt x="0" y="414957"/>
                </a:lnTo>
                <a:lnTo>
                  <a:pt x="0" y="2491294"/>
                </a:lnTo>
                <a:lnTo>
                  <a:pt x="19059337" y="2491294"/>
                </a:lnTo>
                <a:lnTo>
                  <a:pt x="19081054" y="2490519"/>
                </a:lnTo>
                <a:lnTo>
                  <a:pt x="19124489" y="2485865"/>
                </a:lnTo>
                <a:lnTo>
                  <a:pt x="19167148" y="2477333"/>
                </a:lnTo>
                <a:lnTo>
                  <a:pt x="19208256" y="2463372"/>
                </a:lnTo>
                <a:lnTo>
                  <a:pt x="19247813" y="2445533"/>
                </a:lnTo>
                <a:lnTo>
                  <a:pt x="19285818" y="2423815"/>
                </a:lnTo>
                <a:lnTo>
                  <a:pt x="19320721" y="2398220"/>
                </a:lnTo>
                <a:lnTo>
                  <a:pt x="19353297" y="2369522"/>
                </a:lnTo>
                <a:lnTo>
                  <a:pt x="19381995" y="2336946"/>
                </a:lnTo>
                <a:lnTo>
                  <a:pt x="19407591" y="2302043"/>
                </a:lnTo>
                <a:lnTo>
                  <a:pt x="19429308" y="2264038"/>
                </a:lnTo>
                <a:lnTo>
                  <a:pt x="19447148" y="2224481"/>
                </a:lnTo>
                <a:lnTo>
                  <a:pt x="19460333" y="2183373"/>
                </a:lnTo>
                <a:lnTo>
                  <a:pt x="19469641" y="2140714"/>
                </a:lnTo>
                <a:lnTo>
                  <a:pt x="19474294" y="2098055"/>
                </a:lnTo>
                <a:lnTo>
                  <a:pt x="19475070" y="2075562"/>
                </a:lnTo>
                <a:lnTo>
                  <a:pt x="19475070" y="0"/>
                </a:lnTo>
                <a:close/>
              </a:path>
            </a:pathLst>
          </a:custGeom>
          <a:solidFill>
            <a:srgbClr val="996633"/>
          </a:solidFill>
        </p:spPr>
        <p:txBody>
          <a:bodyPr wrap="square" lIns="0" tIns="0" rIns="0" bIns="0" rtlCol="0"/>
          <a:lstStyle/>
          <a:p>
            <a:endParaRPr/>
          </a:p>
        </p:txBody>
      </p:sp>
      <p:sp>
        <p:nvSpPr>
          <p:cNvPr id="2" name="Holder 2"/>
          <p:cNvSpPr>
            <a:spLocks noGrp="1"/>
          </p:cNvSpPr>
          <p:nvPr>
            <p:ph type="title"/>
          </p:nvPr>
        </p:nvSpPr>
        <p:spPr>
          <a:xfrm>
            <a:off x="3151058" y="161039"/>
            <a:ext cx="13394690" cy="1254125"/>
          </a:xfrm>
          <a:prstGeom prst="rect">
            <a:avLst/>
          </a:prstGeom>
        </p:spPr>
        <p:txBody>
          <a:bodyPr wrap="square" lIns="0" tIns="0" rIns="0" bIns="0">
            <a:spAutoFit/>
          </a:bodyPr>
          <a:lstStyle>
            <a:lvl1pPr>
              <a:defRPr sz="4000" b="1" i="0">
                <a:solidFill>
                  <a:schemeClr val="tx1"/>
                </a:solidFill>
                <a:latin typeface="Calibri"/>
                <a:cs typeface="Calibri"/>
              </a:defRPr>
            </a:lvl1pPr>
          </a:lstStyle>
          <a:p>
            <a:endParaRPr/>
          </a:p>
        </p:txBody>
      </p:sp>
      <p:sp>
        <p:nvSpPr>
          <p:cNvPr id="3" name="Holder 3"/>
          <p:cNvSpPr>
            <a:spLocks noGrp="1"/>
          </p:cNvSpPr>
          <p:nvPr>
            <p:ph type="body" idx="1"/>
          </p:nvPr>
        </p:nvSpPr>
        <p:spPr>
          <a:xfrm>
            <a:off x="1005205" y="3083115"/>
            <a:ext cx="18093690" cy="884720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2466511"/>
            <a:ext cx="6433312" cy="670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2466511"/>
            <a:ext cx="4623943" cy="670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4/22/2025</a:t>
            </a:fld>
            <a:endParaRPr lang="en-US"/>
          </a:p>
        </p:txBody>
      </p:sp>
      <p:sp>
        <p:nvSpPr>
          <p:cNvPr id="6" name="Holder 6"/>
          <p:cNvSpPr>
            <a:spLocks noGrp="1"/>
          </p:cNvSpPr>
          <p:nvPr>
            <p:ph type="sldNum" sz="quarter" idx="7"/>
          </p:nvPr>
        </p:nvSpPr>
        <p:spPr>
          <a:xfrm>
            <a:off x="14474953" y="12466511"/>
            <a:ext cx="4623943" cy="6702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p:nvPr/>
        </p:nvSpPr>
        <p:spPr>
          <a:xfrm>
            <a:off x="263712" y="2766641"/>
            <a:ext cx="4511736" cy="371801"/>
          </a:xfrm>
          <a:custGeom>
            <a:avLst/>
            <a:gdLst/>
            <a:ahLst/>
            <a:cxnLst/>
            <a:rect l="l" t="t" r="r" b="b"/>
            <a:pathLst>
              <a:path w="4605655" h="354964">
                <a:moveTo>
                  <a:pt x="4605638" y="0"/>
                </a:moveTo>
                <a:lnTo>
                  <a:pt x="0" y="0"/>
                </a:lnTo>
                <a:lnTo>
                  <a:pt x="0" y="354458"/>
                </a:lnTo>
                <a:lnTo>
                  <a:pt x="2302819" y="354458"/>
                </a:lnTo>
                <a:lnTo>
                  <a:pt x="4605638" y="354458"/>
                </a:lnTo>
                <a:lnTo>
                  <a:pt x="4605638" y="0"/>
                </a:lnTo>
                <a:close/>
              </a:path>
            </a:pathLst>
          </a:custGeom>
          <a:solidFill>
            <a:srgbClr val="99CCFF"/>
          </a:solidFill>
        </p:spPr>
        <p:txBody>
          <a:bodyPr wrap="square" lIns="0" tIns="0" rIns="0" bIns="0" rtlCol="0"/>
          <a:lstStyle/>
          <a:p>
            <a:endParaRPr/>
          </a:p>
        </p:txBody>
      </p:sp>
      <p:sp>
        <p:nvSpPr>
          <p:cNvPr id="12" name="object 12"/>
          <p:cNvSpPr txBox="1"/>
          <p:nvPr/>
        </p:nvSpPr>
        <p:spPr>
          <a:xfrm>
            <a:off x="260813" y="2665599"/>
            <a:ext cx="4516120" cy="396904"/>
          </a:xfrm>
          <a:prstGeom prst="rect">
            <a:avLst/>
          </a:prstGeom>
        </p:spPr>
        <p:txBody>
          <a:bodyPr vert="horz" wrap="square" lIns="0" tIns="95885" rIns="0" bIns="0" rtlCol="0">
            <a:spAutoFit/>
          </a:bodyPr>
          <a:lstStyle/>
          <a:p>
            <a:pPr marL="1417320">
              <a:lnSpc>
                <a:spcPct val="100000"/>
              </a:lnSpc>
              <a:spcBef>
                <a:spcPts val="755"/>
              </a:spcBef>
            </a:pPr>
            <a:r>
              <a:rPr sz="1950" b="1" spc="-10" dirty="0">
                <a:latin typeface="Calibri"/>
                <a:cs typeface="Calibri"/>
              </a:rPr>
              <a:t>1.Introduction</a:t>
            </a:r>
            <a:endParaRPr sz="1950" dirty="0">
              <a:latin typeface="Calibri"/>
              <a:cs typeface="Calibri"/>
            </a:endParaRPr>
          </a:p>
        </p:txBody>
      </p:sp>
      <p:sp>
        <p:nvSpPr>
          <p:cNvPr id="16" name="object 16"/>
          <p:cNvSpPr/>
          <p:nvPr/>
        </p:nvSpPr>
        <p:spPr>
          <a:xfrm>
            <a:off x="259327" y="7392061"/>
            <a:ext cx="4516120" cy="343362"/>
          </a:xfrm>
          <a:custGeom>
            <a:avLst/>
            <a:gdLst/>
            <a:ahLst/>
            <a:cxnLst/>
            <a:rect l="l" t="t" r="r" b="b"/>
            <a:pathLst>
              <a:path w="4605655" h="353695">
                <a:moveTo>
                  <a:pt x="4605638" y="0"/>
                </a:moveTo>
                <a:lnTo>
                  <a:pt x="0" y="0"/>
                </a:lnTo>
                <a:lnTo>
                  <a:pt x="0" y="353683"/>
                </a:lnTo>
                <a:lnTo>
                  <a:pt x="2302819" y="353683"/>
                </a:lnTo>
                <a:lnTo>
                  <a:pt x="4605638" y="353683"/>
                </a:lnTo>
                <a:lnTo>
                  <a:pt x="4605638" y="0"/>
                </a:lnTo>
                <a:close/>
              </a:path>
            </a:pathLst>
          </a:custGeom>
          <a:solidFill>
            <a:srgbClr val="99CCFF"/>
          </a:solidFill>
        </p:spPr>
        <p:txBody>
          <a:bodyPr wrap="square" lIns="0" tIns="0" rIns="0" bIns="0" rtlCol="0"/>
          <a:lstStyle/>
          <a:p>
            <a:endParaRPr dirty="0"/>
          </a:p>
        </p:txBody>
      </p:sp>
      <p:sp>
        <p:nvSpPr>
          <p:cNvPr id="17" name="object 17"/>
          <p:cNvSpPr txBox="1"/>
          <p:nvPr/>
        </p:nvSpPr>
        <p:spPr>
          <a:xfrm>
            <a:off x="286889" y="7379715"/>
            <a:ext cx="4407535" cy="313547"/>
          </a:xfrm>
          <a:prstGeom prst="rect">
            <a:avLst/>
          </a:prstGeom>
        </p:spPr>
        <p:txBody>
          <a:bodyPr vert="horz" wrap="square" lIns="0" tIns="13335" rIns="0" bIns="0" rtlCol="0">
            <a:spAutoFit/>
          </a:bodyPr>
          <a:lstStyle/>
          <a:p>
            <a:pPr marL="1144270">
              <a:lnSpc>
                <a:spcPct val="100000"/>
              </a:lnSpc>
              <a:spcBef>
                <a:spcPts val="990"/>
              </a:spcBef>
            </a:pPr>
            <a:r>
              <a:rPr sz="1950" b="1" dirty="0">
                <a:latin typeface="Calibri"/>
                <a:cs typeface="Calibri"/>
              </a:rPr>
              <a:t>2.</a:t>
            </a:r>
            <a:r>
              <a:rPr sz="1950" b="1" spc="-5" dirty="0">
                <a:latin typeface="Calibri"/>
                <a:cs typeface="Calibri"/>
              </a:rPr>
              <a:t> </a:t>
            </a:r>
            <a:r>
              <a:rPr lang="en-US" sz="1950" b="1" spc="-10" dirty="0">
                <a:latin typeface="Calibri"/>
                <a:cs typeface="Calibri"/>
              </a:rPr>
              <a:t>Problem Statement</a:t>
            </a:r>
            <a:endParaRPr sz="1950" dirty="0">
              <a:latin typeface="Calibri"/>
              <a:cs typeface="Calibri"/>
            </a:endParaRPr>
          </a:p>
        </p:txBody>
      </p:sp>
      <p:sp>
        <p:nvSpPr>
          <p:cNvPr id="201" name="Title 200">
            <a:extLst>
              <a:ext uri="{FF2B5EF4-FFF2-40B4-BE49-F238E27FC236}">
                <a16:creationId xmlns:a16="http://schemas.microsoft.com/office/drawing/2014/main" id="{F3F3DE0A-80B0-2137-A8F2-8E395DE7CC50}"/>
              </a:ext>
            </a:extLst>
          </p:cNvPr>
          <p:cNvSpPr>
            <a:spLocks noGrp="1"/>
          </p:cNvSpPr>
          <p:nvPr>
            <p:ph type="title"/>
          </p:nvPr>
        </p:nvSpPr>
        <p:spPr>
          <a:xfrm>
            <a:off x="3117850" y="264475"/>
            <a:ext cx="15176501" cy="1231106"/>
          </a:xfrm>
        </p:spPr>
        <p:txBody>
          <a:bodyPr/>
          <a:lstStyle/>
          <a:p>
            <a:pPr algn="ctr"/>
            <a:r>
              <a:rPr lang="en-US" b="1" dirty="0"/>
              <a:t>Air Quality Monitoring System with Community Validation and Predictive Insights</a:t>
            </a:r>
            <a:endParaRPr lang="en-US" dirty="0"/>
          </a:p>
        </p:txBody>
      </p:sp>
      <p:pic>
        <p:nvPicPr>
          <p:cNvPr id="203" name="Picture 202">
            <a:extLst>
              <a:ext uri="{FF2B5EF4-FFF2-40B4-BE49-F238E27FC236}">
                <a16:creationId xmlns:a16="http://schemas.microsoft.com/office/drawing/2014/main" id="{C58D5DD2-1694-8BF8-D777-74ACEA085A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581" y="300325"/>
            <a:ext cx="2033881" cy="2033881"/>
          </a:xfrm>
          <a:prstGeom prst="rect">
            <a:avLst/>
          </a:prstGeom>
        </p:spPr>
      </p:pic>
      <p:pic>
        <p:nvPicPr>
          <p:cNvPr id="205" name="Picture 204">
            <a:extLst>
              <a:ext uri="{FF2B5EF4-FFF2-40B4-BE49-F238E27FC236}">
                <a16:creationId xmlns:a16="http://schemas.microsoft.com/office/drawing/2014/main" id="{D4BFB537-8D9D-DEE5-A69F-E7A7F508BA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581" y="305873"/>
            <a:ext cx="2187546" cy="2171169"/>
          </a:xfrm>
          <a:prstGeom prst="rect">
            <a:avLst/>
          </a:prstGeom>
        </p:spPr>
      </p:pic>
      <p:sp>
        <p:nvSpPr>
          <p:cNvPr id="207" name="TextBox 206">
            <a:extLst>
              <a:ext uri="{FF2B5EF4-FFF2-40B4-BE49-F238E27FC236}">
                <a16:creationId xmlns:a16="http://schemas.microsoft.com/office/drawing/2014/main" id="{CFF3CB10-84E6-1D07-B071-C46199057CE1}"/>
              </a:ext>
            </a:extLst>
          </p:cNvPr>
          <p:cNvSpPr txBox="1"/>
          <p:nvPr/>
        </p:nvSpPr>
        <p:spPr>
          <a:xfrm>
            <a:off x="3879850" y="1048431"/>
            <a:ext cx="14566900" cy="1384995"/>
          </a:xfrm>
          <a:prstGeom prst="rect">
            <a:avLst/>
          </a:prstGeom>
          <a:noFill/>
        </p:spPr>
        <p:txBody>
          <a:bodyPr wrap="square" rtlCol="0">
            <a:spAutoFit/>
          </a:bodyPr>
          <a:lstStyle/>
          <a:p>
            <a:endParaRPr lang="en-US" sz="2800" dirty="0">
              <a:solidFill>
                <a:schemeClr val="bg1">
                  <a:lumMod val="85000"/>
                </a:schemeClr>
              </a:solidFill>
            </a:endParaRPr>
          </a:p>
          <a:p>
            <a:r>
              <a:rPr lang="en-US" sz="2800" dirty="0">
                <a:solidFill>
                  <a:schemeClr val="bg1">
                    <a:lumMod val="85000"/>
                  </a:schemeClr>
                </a:solidFill>
              </a:rPr>
              <a:t>Divyagnan Reddy (2201130)                                             Pranay Satvik Reddy (2201221) </a:t>
            </a:r>
          </a:p>
          <a:p>
            <a:r>
              <a:rPr lang="en-US" sz="2800" dirty="0">
                <a:solidFill>
                  <a:schemeClr val="bg1">
                    <a:lumMod val="85000"/>
                  </a:schemeClr>
                </a:solidFill>
              </a:rPr>
              <a:t>Satya Pranav (2201213)						 Vasireddy Sriniketh (2201226)</a:t>
            </a:r>
          </a:p>
        </p:txBody>
      </p:sp>
      <p:sp>
        <p:nvSpPr>
          <p:cNvPr id="209" name="TextBox 208">
            <a:extLst>
              <a:ext uri="{FF2B5EF4-FFF2-40B4-BE49-F238E27FC236}">
                <a16:creationId xmlns:a16="http://schemas.microsoft.com/office/drawing/2014/main" id="{1D9AF127-8561-A848-C448-DF134F11720B}"/>
              </a:ext>
            </a:extLst>
          </p:cNvPr>
          <p:cNvSpPr txBox="1"/>
          <p:nvPr/>
        </p:nvSpPr>
        <p:spPr>
          <a:xfrm>
            <a:off x="232596" y="3171165"/>
            <a:ext cx="4590205" cy="4262705"/>
          </a:xfrm>
          <a:prstGeom prst="rect">
            <a:avLst/>
          </a:prstGeom>
          <a:noFill/>
        </p:spPr>
        <p:txBody>
          <a:bodyPr wrap="square" rtlCol="0">
            <a:spAutoFit/>
          </a:bodyPr>
          <a:lstStyle/>
          <a:p>
            <a:r>
              <a:rPr lang="en-US" dirty="0"/>
              <a:t>Air pollution is a growing global issue, and accurate monitoring is essential for public health. The Air Quality Monitoring System (AQMS) enhances existing sources like WAQI by allowing users </a:t>
            </a:r>
            <a:r>
              <a:rPr lang="en-US" sz="1900" dirty="0"/>
              <a:t>to</a:t>
            </a:r>
            <a:r>
              <a:rPr lang="en-US" dirty="0"/>
              <a:t> flag inaccurate data and enabling trusted contributors called providers to submit real-time sensor readings or validate using different sources . These providers earn credibility scores , ensuring data quality. AQMS also offers personalized alerts based on user-defined health thresholds. By combining official data with community input, AQMS delivers reliable, localized, and engaging air quality insights.</a:t>
            </a:r>
            <a:endParaRPr lang="en-IN" dirty="0"/>
          </a:p>
        </p:txBody>
      </p:sp>
      <p:sp>
        <p:nvSpPr>
          <p:cNvPr id="210" name="object 16">
            <a:extLst>
              <a:ext uri="{FF2B5EF4-FFF2-40B4-BE49-F238E27FC236}">
                <a16:creationId xmlns:a16="http://schemas.microsoft.com/office/drawing/2014/main" id="{4EE67B0E-B677-3997-8BE3-4D956BEA2980}"/>
              </a:ext>
            </a:extLst>
          </p:cNvPr>
          <p:cNvSpPr/>
          <p:nvPr/>
        </p:nvSpPr>
        <p:spPr>
          <a:xfrm>
            <a:off x="232596" y="10233685"/>
            <a:ext cx="4516120" cy="343362"/>
          </a:xfrm>
          <a:custGeom>
            <a:avLst/>
            <a:gdLst/>
            <a:ahLst/>
            <a:cxnLst/>
            <a:rect l="l" t="t" r="r" b="b"/>
            <a:pathLst>
              <a:path w="4605655" h="353695">
                <a:moveTo>
                  <a:pt x="4605638" y="0"/>
                </a:moveTo>
                <a:lnTo>
                  <a:pt x="0" y="0"/>
                </a:lnTo>
                <a:lnTo>
                  <a:pt x="0" y="353683"/>
                </a:lnTo>
                <a:lnTo>
                  <a:pt x="2302819" y="353683"/>
                </a:lnTo>
                <a:lnTo>
                  <a:pt x="4605638" y="353683"/>
                </a:lnTo>
                <a:lnTo>
                  <a:pt x="4605638" y="0"/>
                </a:lnTo>
                <a:close/>
              </a:path>
            </a:pathLst>
          </a:custGeom>
          <a:solidFill>
            <a:srgbClr val="99CCFF"/>
          </a:solidFill>
        </p:spPr>
        <p:txBody>
          <a:bodyPr wrap="square" lIns="0" tIns="0" rIns="0" bIns="0" rtlCol="0"/>
          <a:lstStyle/>
          <a:p>
            <a:pPr algn="ctr"/>
            <a:r>
              <a:rPr lang="en-US" b="1" dirty="0"/>
              <a:t>3. Motivation</a:t>
            </a:r>
            <a:endParaRPr b="1" dirty="0"/>
          </a:p>
        </p:txBody>
      </p:sp>
      <p:sp>
        <p:nvSpPr>
          <p:cNvPr id="213" name="TextBox 212">
            <a:extLst>
              <a:ext uri="{FF2B5EF4-FFF2-40B4-BE49-F238E27FC236}">
                <a16:creationId xmlns:a16="http://schemas.microsoft.com/office/drawing/2014/main" id="{B7A00371-F849-BB2D-945D-95A0F88B29C5}"/>
              </a:ext>
            </a:extLst>
          </p:cNvPr>
          <p:cNvSpPr txBox="1"/>
          <p:nvPr/>
        </p:nvSpPr>
        <p:spPr>
          <a:xfrm>
            <a:off x="259327" y="7735423"/>
            <a:ext cx="4435097" cy="2431435"/>
          </a:xfrm>
          <a:prstGeom prst="rect">
            <a:avLst/>
          </a:prstGeom>
          <a:noFill/>
        </p:spPr>
        <p:txBody>
          <a:bodyPr wrap="square" rtlCol="0">
            <a:spAutoFit/>
          </a:bodyPr>
          <a:lstStyle/>
          <a:p>
            <a:r>
              <a:rPr lang="en-US" sz="1900" dirty="0"/>
              <a:t>Air pollution has emerged as a critical threat to public health, especially in urban areas where industrial activities and vehicular emissions continue to rise. Existing air quality monitoring tools often rely on centralized data sources with limited flexibility, delayed updates, and lack of personalization.</a:t>
            </a:r>
          </a:p>
        </p:txBody>
      </p:sp>
      <p:sp>
        <p:nvSpPr>
          <p:cNvPr id="214" name="TextBox 213">
            <a:extLst>
              <a:ext uri="{FF2B5EF4-FFF2-40B4-BE49-F238E27FC236}">
                <a16:creationId xmlns:a16="http://schemas.microsoft.com/office/drawing/2014/main" id="{C462C99F-CC94-E363-8B40-F0E669CB5877}"/>
              </a:ext>
            </a:extLst>
          </p:cNvPr>
          <p:cNvSpPr txBox="1"/>
          <p:nvPr/>
        </p:nvSpPr>
        <p:spPr>
          <a:xfrm>
            <a:off x="286889" y="10577047"/>
            <a:ext cx="4407535" cy="2723823"/>
          </a:xfrm>
          <a:prstGeom prst="rect">
            <a:avLst/>
          </a:prstGeom>
          <a:noFill/>
        </p:spPr>
        <p:txBody>
          <a:bodyPr wrap="square" rtlCol="0">
            <a:spAutoFit/>
          </a:bodyPr>
          <a:lstStyle/>
          <a:p>
            <a:r>
              <a:rPr lang="en-US" sz="1900" dirty="0"/>
              <a:t>The AQMS project aims to deliver a more robust, real-time, and community-driven solution for tracking air quality. By leveraging modern microservices architecture, machine learning techniques, and public participation, AQMS offers enhanced accuracy, responsiveness, and user engagement.</a:t>
            </a:r>
          </a:p>
        </p:txBody>
      </p:sp>
      <p:sp>
        <p:nvSpPr>
          <p:cNvPr id="215" name="object 11">
            <a:extLst>
              <a:ext uri="{FF2B5EF4-FFF2-40B4-BE49-F238E27FC236}">
                <a16:creationId xmlns:a16="http://schemas.microsoft.com/office/drawing/2014/main" id="{03891F06-7CF1-D158-CC1E-BD0586DF1F50}"/>
              </a:ext>
            </a:extLst>
          </p:cNvPr>
          <p:cNvSpPr/>
          <p:nvPr/>
        </p:nvSpPr>
        <p:spPr>
          <a:xfrm>
            <a:off x="4946650" y="2766641"/>
            <a:ext cx="4511736" cy="396904"/>
          </a:xfrm>
          <a:custGeom>
            <a:avLst/>
            <a:gdLst/>
            <a:ahLst/>
            <a:cxnLst/>
            <a:rect l="l" t="t" r="r" b="b"/>
            <a:pathLst>
              <a:path w="4605655" h="354964">
                <a:moveTo>
                  <a:pt x="4605638" y="0"/>
                </a:moveTo>
                <a:lnTo>
                  <a:pt x="0" y="0"/>
                </a:lnTo>
                <a:lnTo>
                  <a:pt x="0" y="354458"/>
                </a:lnTo>
                <a:lnTo>
                  <a:pt x="2302819" y="354458"/>
                </a:lnTo>
                <a:lnTo>
                  <a:pt x="4605638" y="354458"/>
                </a:lnTo>
                <a:lnTo>
                  <a:pt x="4605638" y="0"/>
                </a:lnTo>
                <a:close/>
              </a:path>
            </a:pathLst>
          </a:custGeom>
          <a:solidFill>
            <a:srgbClr val="99CCFF"/>
          </a:solidFill>
        </p:spPr>
        <p:txBody>
          <a:bodyPr wrap="square" lIns="0" tIns="0" rIns="0" bIns="0" rtlCol="0"/>
          <a:lstStyle/>
          <a:p>
            <a:pPr algn="ctr" rtl="0"/>
            <a:r>
              <a:rPr lang="en-IN" b="1" dirty="0"/>
              <a:t>4.Architecture and Business Logic</a:t>
            </a:r>
          </a:p>
          <a:p>
            <a:pPr algn="ctr" rtl="0"/>
            <a:endParaRPr lang="en-IN" b="1" dirty="0"/>
          </a:p>
        </p:txBody>
      </p:sp>
      <p:sp>
        <p:nvSpPr>
          <p:cNvPr id="216" name="TextBox 215">
            <a:extLst>
              <a:ext uri="{FF2B5EF4-FFF2-40B4-BE49-F238E27FC236}">
                <a16:creationId xmlns:a16="http://schemas.microsoft.com/office/drawing/2014/main" id="{6453765B-83C4-8BCA-CC4A-05DA1722D5D6}"/>
              </a:ext>
            </a:extLst>
          </p:cNvPr>
          <p:cNvSpPr txBox="1"/>
          <p:nvPr/>
        </p:nvSpPr>
        <p:spPr>
          <a:xfrm>
            <a:off x="4875206" y="3075888"/>
            <a:ext cx="4718741" cy="6509474"/>
          </a:xfrm>
          <a:prstGeom prst="rect">
            <a:avLst/>
          </a:prstGeom>
          <a:noFill/>
        </p:spPr>
        <p:txBody>
          <a:bodyPr wrap="square" rtlCol="0">
            <a:spAutoFit/>
          </a:bodyPr>
          <a:lstStyle/>
          <a:p>
            <a:r>
              <a:rPr lang="en-US" sz="1900" dirty="0"/>
              <a:t>The AQMS employs a microservices architecture, dividing the system into independent </a:t>
            </a:r>
            <a:r>
              <a:rPr lang="en-US" sz="1900" dirty="0" err="1"/>
              <a:t>FastAPI</a:t>
            </a:r>
            <a:r>
              <a:rPr lang="en-US" sz="1900" dirty="0"/>
              <a:t>-based services for authentication, data ingestion, and notifications. Its scalability allows high-demand components like the Machine Learning (ML) Service to scale independently during peak usage. Each microservice exposes RESTful endpoints for synchronous tasks and uses </a:t>
            </a:r>
            <a:r>
              <a:rPr lang="en-US" sz="1900" dirty="0" err="1"/>
              <a:t>asyncio</a:t>
            </a:r>
            <a:r>
              <a:rPr lang="en-US" sz="1900" dirty="0"/>
              <a:t> for asynchronous loops to schedule operations, such as fetching AQI data every 20 minutes. A PostgreSQL database, accessed via </a:t>
            </a:r>
            <a:r>
              <a:rPr lang="en-US" sz="1900" dirty="0" err="1"/>
              <a:t>SQLAlchemy</a:t>
            </a:r>
            <a:r>
              <a:rPr lang="en-US" sz="1900" dirty="0"/>
              <a:t> ORM, ensures efficient queries for tables like users, measurements, and predictions. For instance, a request for Tokyo's AQI triggers the Measurements service to fetch validated data, while the Notifications service checks thresholds for alerts.</a:t>
            </a:r>
          </a:p>
          <a:p>
            <a:endParaRPr lang="en-US" dirty="0"/>
          </a:p>
        </p:txBody>
      </p:sp>
      <p:pic>
        <p:nvPicPr>
          <p:cNvPr id="218" name="Picture 217">
            <a:extLst>
              <a:ext uri="{FF2B5EF4-FFF2-40B4-BE49-F238E27FC236}">
                <a16:creationId xmlns:a16="http://schemas.microsoft.com/office/drawing/2014/main" id="{464D035D-8286-0DE1-57C6-357A50DD26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22801" y="9192082"/>
            <a:ext cx="4577968" cy="2431435"/>
          </a:xfrm>
          <a:prstGeom prst="rect">
            <a:avLst/>
          </a:prstGeom>
        </p:spPr>
      </p:pic>
      <p:sp>
        <p:nvSpPr>
          <p:cNvPr id="222" name="TextBox 221">
            <a:extLst>
              <a:ext uri="{FF2B5EF4-FFF2-40B4-BE49-F238E27FC236}">
                <a16:creationId xmlns:a16="http://schemas.microsoft.com/office/drawing/2014/main" id="{6C7A412C-0E7A-B596-390F-019C7EB1701A}"/>
              </a:ext>
            </a:extLst>
          </p:cNvPr>
          <p:cNvSpPr txBox="1"/>
          <p:nvPr/>
        </p:nvSpPr>
        <p:spPr>
          <a:xfrm>
            <a:off x="9500726" y="2688582"/>
            <a:ext cx="4554561" cy="4524315"/>
          </a:xfrm>
          <a:prstGeom prst="rect">
            <a:avLst/>
          </a:prstGeom>
          <a:noFill/>
        </p:spPr>
        <p:txBody>
          <a:bodyPr wrap="square" rtlCol="0">
            <a:spAutoFit/>
          </a:bodyPr>
          <a:lstStyle/>
          <a:p>
            <a:pPr>
              <a:buNone/>
            </a:pPr>
            <a:r>
              <a:rPr lang="en-US" dirty="0"/>
              <a:t>Data transformation converts raw data into JSON (e.g., { "station": "London", "PM2.5": 20 }) for API responses and </a:t>
            </a:r>
            <a:r>
              <a:rPr lang="en-US" dirty="0" err="1"/>
              <a:t>GeoJSON</a:t>
            </a:r>
            <a:r>
              <a:rPr lang="en-US" dirty="0"/>
              <a:t> for maps, with hourly AQI aggregated into daily trends for charts. Rule enforcement restricts contribution approvals to admins, triggers alerts based on user thresholds. Security measures include </a:t>
            </a:r>
            <a:r>
              <a:rPr lang="en-US" dirty="0" err="1"/>
              <a:t>bcrypt</a:t>
            </a:r>
            <a:r>
              <a:rPr lang="en-US" dirty="0"/>
              <a:t> password hashing, rate limiting, and audit logs for admin actions, safeguarding the system.</a:t>
            </a:r>
          </a:p>
          <a:p>
            <a:r>
              <a:rPr lang="en-US" dirty="0"/>
              <a:t>    The Agile Model enabled incremental delivery and continuous user feedback, allowing core features like AQI fetching to launch early and refining tools like custom thresholds based on testing.</a:t>
            </a:r>
          </a:p>
        </p:txBody>
      </p:sp>
      <p:sp>
        <p:nvSpPr>
          <p:cNvPr id="223" name="object 16">
            <a:extLst>
              <a:ext uri="{FF2B5EF4-FFF2-40B4-BE49-F238E27FC236}">
                <a16:creationId xmlns:a16="http://schemas.microsoft.com/office/drawing/2014/main" id="{3F8095D7-EE2C-596F-3D3B-0C5C2F536E87}"/>
              </a:ext>
            </a:extLst>
          </p:cNvPr>
          <p:cNvSpPr/>
          <p:nvPr/>
        </p:nvSpPr>
        <p:spPr>
          <a:xfrm>
            <a:off x="9546594" y="7124996"/>
            <a:ext cx="4516120" cy="343362"/>
          </a:xfrm>
          <a:custGeom>
            <a:avLst/>
            <a:gdLst/>
            <a:ahLst/>
            <a:cxnLst/>
            <a:rect l="l" t="t" r="r" b="b"/>
            <a:pathLst>
              <a:path w="4605655" h="353695">
                <a:moveTo>
                  <a:pt x="4605638" y="0"/>
                </a:moveTo>
                <a:lnTo>
                  <a:pt x="0" y="0"/>
                </a:lnTo>
                <a:lnTo>
                  <a:pt x="0" y="353683"/>
                </a:lnTo>
                <a:lnTo>
                  <a:pt x="2302819" y="353683"/>
                </a:lnTo>
                <a:lnTo>
                  <a:pt x="4605638" y="353683"/>
                </a:lnTo>
                <a:lnTo>
                  <a:pt x="4605638" y="0"/>
                </a:lnTo>
                <a:close/>
              </a:path>
            </a:pathLst>
          </a:custGeom>
          <a:solidFill>
            <a:srgbClr val="99CCFF"/>
          </a:solidFill>
        </p:spPr>
        <p:txBody>
          <a:bodyPr wrap="square" lIns="0" tIns="0" rIns="0" bIns="0" rtlCol="0"/>
          <a:lstStyle/>
          <a:p>
            <a:pPr algn="ctr"/>
            <a:r>
              <a:rPr lang="en-US" b="1" dirty="0"/>
              <a:t>5.Novelty</a:t>
            </a:r>
            <a:endParaRPr b="1" dirty="0"/>
          </a:p>
        </p:txBody>
      </p:sp>
      <p:sp>
        <p:nvSpPr>
          <p:cNvPr id="227" name="TextBox 226">
            <a:extLst>
              <a:ext uri="{FF2B5EF4-FFF2-40B4-BE49-F238E27FC236}">
                <a16:creationId xmlns:a16="http://schemas.microsoft.com/office/drawing/2014/main" id="{3384FE47-45E4-1D98-5538-8CECF4F2677E}"/>
              </a:ext>
            </a:extLst>
          </p:cNvPr>
          <p:cNvSpPr txBox="1"/>
          <p:nvPr/>
        </p:nvSpPr>
        <p:spPr>
          <a:xfrm>
            <a:off x="9485188" y="7449075"/>
            <a:ext cx="4595205" cy="4247317"/>
          </a:xfrm>
          <a:prstGeom prst="rect">
            <a:avLst/>
          </a:prstGeom>
          <a:noFill/>
        </p:spPr>
        <p:txBody>
          <a:bodyPr wrap="square">
            <a:spAutoFit/>
          </a:bodyPr>
          <a:lstStyle/>
          <a:p>
            <a:pPr rtl="0">
              <a:buNone/>
            </a:pPr>
            <a:r>
              <a:rPr lang="en-US" b="1" dirty="0" err="1"/>
              <a:t>ML:</a:t>
            </a:r>
            <a:r>
              <a:rPr lang="en-US" dirty="0" err="1"/>
              <a:t>The</a:t>
            </a:r>
            <a:r>
              <a:rPr lang="en-US" dirty="0"/>
              <a:t> AQMS employs </a:t>
            </a:r>
            <a:r>
              <a:rPr lang="en-US" b="1" dirty="0" err="1"/>
              <a:t>XGBoost</a:t>
            </a:r>
            <a:r>
              <a:rPr lang="en-US" dirty="0"/>
              <a:t>, a gradient-boosting algorithm, for accurate 48-hour air quality forecasts. Unlike basic models like linear regression, </a:t>
            </a:r>
            <a:r>
              <a:rPr lang="en-US" dirty="0" err="1"/>
              <a:t>XGBoost</a:t>
            </a:r>
            <a:r>
              <a:rPr lang="en-US" dirty="0"/>
              <a:t> captures complex environmental patterns, predicting pollutant levels (e.g., PM2.5, NO₂). Trained weekly on historical data from the measurements table, it generates hourly and daily predictions stored in the predictions table. This computational efficiency enables real-time forecasts, empowering users to plan activities or take health precautions, such as avoiding outdoor exercise during pollution spikes.</a:t>
            </a:r>
          </a:p>
          <a:p>
            <a:pPr rtl="0">
              <a:buNone/>
            </a:pPr>
            <a:r>
              <a:rPr lang="en-US" dirty="0"/>
              <a:t>.</a:t>
            </a:r>
          </a:p>
        </p:txBody>
      </p:sp>
      <p:pic>
        <p:nvPicPr>
          <p:cNvPr id="230" name="Picture 229">
            <a:extLst>
              <a:ext uri="{FF2B5EF4-FFF2-40B4-BE49-F238E27FC236}">
                <a16:creationId xmlns:a16="http://schemas.microsoft.com/office/drawing/2014/main" id="{0A6D56A5-8F19-9C85-C9E9-893FB7B2693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613006" y="11435915"/>
            <a:ext cx="2491917" cy="1651955"/>
          </a:xfrm>
          <a:prstGeom prst="rect">
            <a:avLst/>
          </a:prstGeom>
          <a:noFill/>
          <a:ln>
            <a:noFill/>
          </a:ln>
        </p:spPr>
      </p:pic>
      <p:sp>
        <p:nvSpPr>
          <p:cNvPr id="232" name="TextBox 231">
            <a:extLst>
              <a:ext uri="{FF2B5EF4-FFF2-40B4-BE49-F238E27FC236}">
                <a16:creationId xmlns:a16="http://schemas.microsoft.com/office/drawing/2014/main" id="{B00E587B-738E-0DF6-A175-7B0B8BBE83A3}"/>
              </a:ext>
            </a:extLst>
          </p:cNvPr>
          <p:cNvSpPr txBox="1"/>
          <p:nvPr/>
        </p:nvSpPr>
        <p:spPr>
          <a:xfrm>
            <a:off x="14074507" y="2665599"/>
            <a:ext cx="5555182" cy="5632311"/>
          </a:xfrm>
          <a:prstGeom prst="rect">
            <a:avLst/>
          </a:prstGeom>
          <a:noFill/>
        </p:spPr>
        <p:txBody>
          <a:bodyPr wrap="square">
            <a:spAutoFit/>
          </a:bodyPr>
          <a:lstStyle/>
          <a:p>
            <a:pPr rtl="0">
              <a:buNone/>
            </a:pPr>
            <a:r>
              <a:rPr lang="en-US" b="1" dirty="0"/>
              <a:t>Contributor verification mechanism:</a:t>
            </a:r>
            <a:r>
              <a:rPr lang="en-US" dirty="0"/>
              <a:t> enhances data reliability by combining API-sourced data with community input. To address discrepancies in AQI readings across platforms, verified contributors, vetted via Google Forms with gold standard questions, submit corrections (e.g., adjusting an outdated NO₂ reading in Delhi). Admins cross-check submissions, ensuring accuracy and transparency. This hybrid approach improves data trust, engages communities, and scales coverage to regions with limited API access.</a:t>
            </a:r>
          </a:p>
          <a:p>
            <a:pPr rtl="0"/>
            <a:r>
              <a:rPr lang="en-US" b="1" dirty="0"/>
              <a:t>Custom preferences:</a:t>
            </a:r>
            <a:r>
              <a:rPr lang="en-US" dirty="0"/>
              <a:t> redefine personalization, allowing users to select global monitoring stations, set pollutant thresholds (e.g., PM2.5 &gt; 35 µg/m³), track multiple locations. Stored in the </a:t>
            </a:r>
            <a:r>
              <a:rPr lang="en-US" dirty="0" err="1"/>
              <a:t>user_preferences</a:t>
            </a:r>
            <a:r>
              <a:rPr lang="en-US" dirty="0"/>
              <a:t> table and processed asynchronously, this feature supports diverse use cases, from parents monitoring school air quality to runners tracking ozone levels. It transforms passive data consumption into active engagement.</a:t>
            </a:r>
          </a:p>
        </p:txBody>
      </p:sp>
      <p:sp>
        <p:nvSpPr>
          <p:cNvPr id="234" name="TextBox 233">
            <a:extLst>
              <a:ext uri="{FF2B5EF4-FFF2-40B4-BE49-F238E27FC236}">
                <a16:creationId xmlns:a16="http://schemas.microsoft.com/office/drawing/2014/main" id="{F1445D20-8438-81FC-85AE-3A07C95592A3}"/>
              </a:ext>
            </a:extLst>
          </p:cNvPr>
          <p:cNvSpPr txBox="1"/>
          <p:nvPr/>
        </p:nvSpPr>
        <p:spPr>
          <a:xfrm>
            <a:off x="4780760" y="11350405"/>
            <a:ext cx="4618092" cy="2031325"/>
          </a:xfrm>
          <a:prstGeom prst="rect">
            <a:avLst/>
          </a:prstGeom>
          <a:noFill/>
        </p:spPr>
        <p:txBody>
          <a:bodyPr wrap="square">
            <a:spAutoFit/>
          </a:bodyPr>
          <a:lstStyle/>
          <a:p>
            <a:r>
              <a:rPr lang="en-US" dirty="0"/>
              <a:t>Validation logic ensures data reliability. User inputs, like usernames, are checked for uniqueness, while AQI values are flagged if unrealistic (e.g., PM2.5 &gt; 1000 µg/m³). Contributions are rejected if duplicated, such as a user submitting “PM10 = -5.” </a:t>
            </a:r>
            <a:endParaRPr lang="en-IN" dirty="0"/>
          </a:p>
        </p:txBody>
      </p:sp>
      <p:pic>
        <p:nvPicPr>
          <p:cNvPr id="235" name="Picture 234">
            <a:extLst>
              <a:ext uri="{FF2B5EF4-FFF2-40B4-BE49-F238E27FC236}">
                <a16:creationId xmlns:a16="http://schemas.microsoft.com/office/drawing/2014/main" id="{446FA9C7-9C54-C518-0E9B-401E80A4059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68504" y="11435915"/>
            <a:ext cx="2649749" cy="1448635"/>
          </a:xfrm>
          <a:prstGeom prst="rect">
            <a:avLst/>
          </a:prstGeom>
          <a:noFill/>
          <a:ln>
            <a:noFill/>
          </a:ln>
        </p:spPr>
      </p:pic>
      <p:sp>
        <p:nvSpPr>
          <p:cNvPr id="236" name="object 16">
            <a:extLst>
              <a:ext uri="{FF2B5EF4-FFF2-40B4-BE49-F238E27FC236}">
                <a16:creationId xmlns:a16="http://schemas.microsoft.com/office/drawing/2014/main" id="{427EB2F9-6A59-EFEA-F74C-255EB21E0E2C}"/>
              </a:ext>
            </a:extLst>
          </p:cNvPr>
          <p:cNvSpPr/>
          <p:nvPr/>
        </p:nvSpPr>
        <p:spPr>
          <a:xfrm>
            <a:off x="14139804" y="8189582"/>
            <a:ext cx="5361046" cy="340806"/>
          </a:xfrm>
          <a:custGeom>
            <a:avLst/>
            <a:gdLst/>
            <a:ahLst/>
            <a:cxnLst/>
            <a:rect l="l" t="t" r="r" b="b"/>
            <a:pathLst>
              <a:path w="4605655" h="353695">
                <a:moveTo>
                  <a:pt x="4605638" y="0"/>
                </a:moveTo>
                <a:lnTo>
                  <a:pt x="0" y="0"/>
                </a:lnTo>
                <a:lnTo>
                  <a:pt x="0" y="353683"/>
                </a:lnTo>
                <a:lnTo>
                  <a:pt x="2302819" y="353683"/>
                </a:lnTo>
                <a:lnTo>
                  <a:pt x="4605638" y="353683"/>
                </a:lnTo>
                <a:lnTo>
                  <a:pt x="4605638" y="0"/>
                </a:lnTo>
                <a:close/>
              </a:path>
            </a:pathLst>
          </a:custGeom>
          <a:solidFill>
            <a:srgbClr val="99CCFF"/>
          </a:solidFill>
        </p:spPr>
        <p:txBody>
          <a:bodyPr wrap="square" lIns="0" tIns="0" rIns="0" bIns="0" rtlCol="0"/>
          <a:lstStyle/>
          <a:p>
            <a:pPr algn="ctr"/>
            <a:r>
              <a:rPr lang="en-US" b="1" dirty="0"/>
              <a:t>6.Tech Stack</a:t>
            </a:r>
            <a:endParaRPr b="1" dirty="0"/>
          </a:p>
        </p:txBody>
      </p:sp>
      <p:sp>
        <p:nvSpPr>
          <p:cNvPr id="246" name="TextBox 245">
            <a:extLst>
              <a:ext uri="{FF2B5EF4-FFF2-40B4-BE49-F238E27FC236}">
                <a16:creationId xmlns:a16="http://schemas.microsoft.com/office/drawing/2014/main" id="{C474EE2F-C99E-A040-A1BC-CFDB70F29258}"/>
              </a:ext>
            </a:extLst>
          </p:cNvPr>
          <p:cNvSpPr txBox="1"/>
          <p:nvPr/>
        </p:nvSpPr>
        <p:spPr>
          <a:xfrm>
            <a:off x="14064366" y="8507474"/>
            <a:ext cx="5807138" cy="2031325"/>
          </a:xfrm>
          <a:prstGeom prst="rect">
            <a:avLst/>
          </a:prstGeom>
          <a:noFill/>
        </p:spPr>
        <p:txBody>
          <a:bodyPr wrap="square">
            <a:spAutoFit/>
          </a:bodyPr>
          <a:lstStyle/>
          <a:p>
            <a:r>
              <a:rPr lang="en-IN" b="1" dirty="0"/>
              <a:t>Backend: </a:t>
            </a:r>
            <a:r>
              <a:rPr lang="en-IN" dirty="0" err="1"/>
              <a:t>FastAPI</a:t>
            </a:r>
            <a:r>
              <a:rPr lang="en-IN" dirty="0"/>
              <a:t> with </a:t>
            </a:r>
            <a:r>
              <a:rPr lang="en-IN" dirty="0" err="1"/>
              <a:t>Pydantic</a:t>
            </a:r>
            <a:r>
              <a:rPr lang="en-IN" dirty="0"/>
              <a:t> for APIs, </a:t>
            </a:r>
            <a:r>
              <a:rPr lang="en-IN" dirty="0" err="1"/>
              <a:t>APScheduler</a:t>
            </a:r>
            <a:r>
              <a:rPr lang="en-IN" dirty="0"/>
              <a:t> for tasks.</a:t>
            </a:r>
          </a:p>
          <a:p>
            <a:r>
              <a:rPr lang="en-IN" b="1" dirty="0"/>
              <a:t>Database:</a:t>
            </a:r>
            <a:r>
              <a:rPr lang="en-IN" dirty="0"/>
              <a:t> PostgreSQL with </a:t>
            </a:r>
            <a:r>
              <a:rPr lang="en-IN" dirty="0" err="1"/>
              <a:t>SQLAlchemy</a:t>
            </a:r>
            <a:r>
              <a:rPr lang="en-IN" dirty="0"/>
              <a:t> and Alembic</a:t>
            </a:r>
          </a:p>
          <a:p>
            <a:r>
              <a:rPr lang="en-IN" b="1" dirty="0"/>
              <a:t>Frontend:</a:t>
            </a:r>
            <a:r>
              <a:rPr lang="en-IN" dirty="0"/>
              <a:t> React.js with React Router, CSS Modules, and Browser Notifications.</a:t>
            </a:r>
          </a:p>
          <a:p>
            <a:r>
              <a:rPr lang="en-IN" b="1" dirty="0"/>
              <a:t>Communication:</a:t>
            </a:r>
            <a:r>
              <a:rPr lang="en-IN" dirty="0"/>
              <a:t> CORS, Fetch API, and JWT for secure interaction.</a:t>
            </a:r>
          </a:p>
        </p:txBody>
      </p:sp>
      <p:sp>
        <p:nvSpPr>
          <p:cNvPr id="247" name="object 16">
            <a:extLst>
              <a:ext uri="{FF2B5EF4-FFF2-40B4-BE49-F238E27FC236}">
                <a16:creationId xmlns:a16="http://schemas.microsoft.com/office/drawing/2014/main" id="{CA792DF1-41AB-4757-5DB0-B938B5B16DDD}"/>
              </a:ext>
            </a:extLst>
          </p:cNvPr>
          <p:cNvSpPr/>
          <p:nvPr/>
        </p:nvSpPr>
        <p:spPr>
          <a:xfrm>
            <a:off x="14129454" y="10467717"/>
            <a:ext cx="5361046" cy="340806"/>
          </a:xfrm>
          <a:custGeom>
            <a:avLst/>
            <a:gdLst/>
            <a:ahLst/>
            <a:cxnLst/>
            <a:rect l="l" t="t" r="r" b="b"/>
            <a:pathLst>
              <a:path w="4605655" h="353695">
                <a:moveTo>
                  <a:pt x="4605638" y="0"/>
                </a:moveTo>
                <a:lnTo>
                  <a:pt x="0" y="0"/>
                </a:lnTo>
                <a:lnTo>
                  <a:pt x="0" y="353683"/>
                </a:lnTo>
                <a:lnTo>
                  <a:pt x="2302819" y="353683"/>
                </a:lnTo>
                <a:lnTo>
                  <a:pt x="4605638" y="353683"/>
                </a:lnTo>
                <a:lnTo>
                  <a:pt x="4605638" y="0"/>
                </a:lnTo>
                <a:close/>
              </a:path>
            </a:pathLst>
          </a:custGeom>
          <a:solidFill>
            <a:srgbClr val="99CCFF"/>
          </a:solidFill>
        </p:spPr>
        <p:txBody>
          <a:bodyPr wrap="square" lIns="0" tIns="0" rIns="0" bIns="0" rtlCol="0"/>
          <a:lstStyle/>
          <a:p>
            <a:pPr algn="ctr"/>
            <a:r>
              <a:rPr lang="en-US" b="1" dirty="0"/>
              <a:t>7.Conclusion</a:t>
            </a:r>
            <a:endParaRPr b="1" dirty="0"/>
          </a:p>
        </p:txBody>
      </p:sp>
      <p:sp>
        <p:nvSpPr>
          <p:cNvPr id="249" name="TextBox 248">
            <a:extLst>
              <a:ext uri="{FF2B5EF4-FFF2-40B4-BE49-F238E27FC236}">
                <a16:creationId xmlns:a16="http://schemas.microsoft.com/office/drawing/2014/main" id="{F9978D5B-0AAC-8DF4-7A5B-BF6D3DCD46A3}"/>
              </a:ext>
            </a:extLst>
          </p:cNvPr>
          <p:cNvSpPr txBox="1"/>
          <p:nvPr/>
        </p:nvSpPr>
        <p:spPr>
          <a:xfrm>
            <a:off x="14037655" y="10819527"/>
            <a:ext cx="6066445" cy="2585323"/>
          </a:xfrm>
          <a:prstGeom prst="rect">
            <a:avLst/>
          </a:prstGeom>
          <a:noFill/>
        </p:spPr>
        <p:txBody>
          <a:bodyPr wrap="square">
            <a:spAutoFit/>
          </a:bodyPr>
          <a:lstStyle/>
          <a:p>
            <a:r>
              <a:rPr lang="en-US" dirty="0"/>
              <a:t>The Air Quality Monitoring System (AQMS) is a powerful tool that combines smart technology with user-friendly design to track and improve air quality. It uses </a:t>
            </a:r>
            <a:r>
              <a:rPr lang="en-US" dirty="0" err="1"/>
              <a:t>XGBoost</a:t>
            </a:r>
            <a:r>
              <a:rPr lang="en-US" dirty="0"/>
              <a:t>-based predictions to help users make informed decisions and relies on community feedback to ensure data accuracy. Built on a scalable microservices architecture, AQMS can grow and perform well even with many users. It provides timely, personalized air quality alerts to support public health and environmental awareness. </a:t>
            </a:r>
            <a:endParaRPr lang="en-IN" dirty="0"/>
          </a:p>
        </p:txBody>
      </p:sp>
      <p:sp>
        <p:nvSpPr>
          <p:cNvPr id="2" name="TextBox 1">
            <a:extLst>
              <a:ext uri="{FF2B5EF4-FFF2-40B4-BE49-F238E27FC236}">
                <a16:creationId xmlns:a16="http://schemas.microsoft.com/office/drawing/2014/main" id="{9C326932-291B-110E-B319-13FC012FF5DE}"/>
              </a:ext>
            </a:extLst>
          </p:cNvPr>
          <p:cNvSpPr txBox="1"/>
          <p:nvPr/>
        </p:nvSpPr>
        <p:spPr>
          <a:xfrm>
            <a:off x="17898974" y="427736"/>
            <a:ext cx="1600200" cy="523220"/>
          </a:xfrm>
          <a:prstGeom prst="rect">
            <a:avLst/>
          </a:prstGeom>
          <a:solidFill>
            <a:schemeClr val="bg1"/>
          </a:solidFill>
        </p:spPr>
        <p:txBody>
          <a:bodyPr wrap="square" rtlCol="0">
            <a:spAutoFit/>
          </a:bodyPr>
          <a:lstStyle/>
          <a:p>
            <a:r>
              <a:rPr lang="en-IN" sz="2800" dirty="0"/>
              <a:t>CS32_4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192</TotalTime>
  <Words>908</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Air Quality Monitoring System with Community Validation and Predictive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Research Poster</dc:subject>
  <dc:creator>Graphicsland/MakeSigns.com</dc:creator>
  <cp:keywords>scientific, research, template, custom, poster, presentation, symposium, printing, PowerPoint, create, design, example, sample, download</cp:keywords>
  <cp:lastModifiedBy>SATYAPRANAV T</cp:lastModifiedBy>
  <cp:revision>4</cp:revision>
  <dcterms:created xsi:type="dcterms:W3CDTF">2025-04-20T11:29:54Z</dcterms:created>
  <dcterms:modified xsi:type="dcterms:W3CDTF">2025-04-22T03:32:15Z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2022-05-30T00:00:00Z</vt:filetime>
  </property>
  <property fmtid="{D5CDD505-2E9C-101B-9397-08002B2CF9AE}" pid="3" name="Creator">
    <vt:lpwstr>Impress</vt:lpwstr>
  </property>
  <property fmtid="{D5CDD505-2E9C-101B-9397-08002B2CF9AE}" pid="4" name="Producer">
    <vt:lpwstr>LibreOffice 5.1</vt:lpwstr>
  </property>
  <property fmtid="{D5CDD505-2E9C-101B-9397-08002B2CF9AE}" pid="5" name="LastSaved">
    <vt:filetime>2022-05-30T00:00:00Z</vt:filetime>
  </property>
</Properties>
</file>